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PUMP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Safety Training for New Employees</a:t>
            </a:r>
          </a:p>
          <a:p>
            <a:r>
              <a:t>Manufacturing Operations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completing this training, you will be able to:</a:t>
            </a:r>
          </a:p>
          <a:p>
            <a:pPr lvl="1"/>
            <a:r>
              <a:t>Identify hazards associated with pump operations</a:t>
            </a:r>
          </a:p>
          <a:p>
            <a:pPr lvl="1"/>
            <a:r>
              <a:t>Apply proper Lockout/Tagout (LOTO) procedures</a:t>
            </a:r>
          </a:p>
          <a:p>
            <a:pPr lvl="1"/>
            <a:r>
              <a:t>Select and use appropriate PPE</a:t>
            </a:r>
          </a:p>
          <a:p>
            <a:pPr lvl="1"/>
            <a:r>
              <a:t>Recognize abnormal operating conditions</a:t>
            </a:r>
          </a:p>
          <a:p>
            <a:pPr lvl="1"/>
            <a:r>
              <a:t>Respond appropriately to emergencies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Pump System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Rotating Equipment: </a:t>
            </a:r>
          </a:p>
          <a:p>
            <a:pPr lvl="1">
              <a:defRPr sz="1600"/>
            </a:pPr>
            <a:r>
              <a:t>Catch points with couplings, exposed shafts can pull in clothing or hair</a:t>
            </a:r>
          </a:p>
          <a:p>
            <a:pPr>
              <a:defRPr b="1"/>
            </a:pPr>
            <a:r>
              <a:t>High Pressure: </a:t>
            </a:r>
          </a:p>
          <a:p>
            <a:pPr lvl="1">
              <a:defRPr sz="1600"/>
            </a:pPr>
            <a:r>
              <a:t>120 PSI discharge - pinhole leaks can inject fluid under skin</a:t>
            </a:r>
          </a:p>
          <a:p>
            <a:pPr>
              <a:defRPr b="1"/>
            </a:pPr>
            <a:r>
              <a:t>Electrical: </a:t>
            </a:r>
          </a:p>
          <a:p>
            <a:pPr lvl="1">
              <a:defRPr sz="1600"/>
            </a:pPr>
            <a:r>
              <a:t>460V 3-phase motors - risk of shock, arc flash</a:t>
            </a:r>
          </a:p>
          <a:p>
            <a:pPr>
              <a:defRPr b="1"/>
            </a:pPr>
            <a:r>
              <a:t>Noise: </a:t>
            </a:r>
          </a:p>
          <a:p>
            <a:pPr lvl="1">
              <a:defRPr sz="1600"/>
            </a:pPr>
            <a:r>
              <a:t>85-95 dBA during operation - hearing protection required</a:t>
            </a:r>
          </a:p>
          <a:p>
            <a:pPr>
              <a:defRPr b="1"/>
            </a:pPr>
            <a:r>
              <a:t>Hot Surfaces: </a:t>
            </a:r>
          </a:p>
          <a:p>
            <a:pPr lvl="1">
              <a:defRPr sz="1600"/>
            </a:pPr>
            <a:r>
              <a:t>Bearing housings can reach 180°F - burn hazard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Lockout/Tagout (LOTO)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CC0000"/>
                </a:solidFill>
              </a:defRPr>
            </a:pPr>
            <a:r>
              <a:t>NEVER work on equipment without LOTO!</a:t>
            </a:r>
          </a:p>
          <a:p>
            <a:pPr>
              <a:defRPr sz="1800"/>
            </a:pPr>
            <a:r>
              <a:t>1. Notify affected employees</a:t>
            </a:r>
          </a:p>
          <a:p>
            <a:pPr>
              <a:defRPr sz="1800"/>
            </a:pPr>
            <a:r>
              <a:t>2. Shut down equipment normally</a:t>
            </a:r>
          </a:p>
          <a:p>
            <a:pPr>
              <a:defRPr sz="1800"/>
            </a:pPr>
            <a:r>
              <a:t>3. Isolate all energy sources</a:t>
            </a:r>
          </a:p>
          <a:p>
            <a:pPr>
              <a:defRPr sz="1800"/>
            </a:pPr>
            <a:r>
              <a:t>4. Apply YOUR personal lock and tag</a:t>
            </a:r>
          </a:p>
          <a:p>
            <a:pPr>
              <a:defRPr sz="1800"/>
            </a:pPr>
            <a:r>
              <a:t>5. Release stored energy</a:t>
            </a:r>
          </a:p>
          <a:p>
            <a:pPr>
              <a:defRPr sz="1800"/>
            </a:pPr>
            <a:r>
              <a:t>6. Verify zero energy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Personal Protective Equipment (PPE)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Minimum PPE (always)</a:t>
            </a:r>
          </a:p>
          <a:p>
            <a:pPr lvl="1">
              <a:defRPr sz="1800"/>
            </a:pPr>
            <a:r>
              <a:t>Safety glasses, Steel-toed boots, Hearing protection in pump room</a:t>
            </a:r>
          </a:p>
          <a:p>
            <a:pPr>
              <a:defRPr b="1" sz="2000"/>
            </a:pPr>
            <a:r>
              <a:t>Maintenance Work</a:t>
            </a:r>
          </a:p>
          <a:p>
            <a:pPr lvl="1">
              <a:defRPr sz="1800"/>
            </a:pPr>
            <a:r>
              <a:t>Face shield (for hydraulic work), Leather gloves, Long sleeves</a:t>
            </a:r>
          </a:p>
          <a:p>
            <a:pPr>
              <a:defRPr b="1" sz="2000"/>
            </a:pPr>
            <a:r>
              <a:t>Electrical Work</a:t>
            </a:r>
          </a:p>
          <a:p>
            <a:pPr lvl="1">
              <a:defRPr sz="1800"/>
            </a:pPr>
            <a:r>
              <a:t>Arc-rated gloves (Class 00 minimum), Face shield with arc rating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 Operating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to check during rounds:</a:t>
            </a:r>
          </a:p>
          <a:p>
            <a:pPr lvl="1">
              <a:defRPr sz="1800"/>
            </a:pPr>
            <a:r>
              <a:t>Discharge pressure: 100-120 PSI (normal)</a:t>
            </a:r>
          </a:p>
          <a:p>
            <a:pPr lvl="1">
              <a:defRPr sz="1800"/>
            </a:pPr>
            <a:r>
              <a:t>No unusual vibration or noise</a:t>
            </a:r>
          </a:p>
          <a:p>
            <a:pPr lvl="1">
              <a:defRPr sz="1800"/>
            </a:pPr>
            <a:r>
              <a:t>No leaks from seals or connections</a:t>
            </a:r>
          </a:p>
          <a:p>
            <a:pPr lvl="1">
              <a:defRPr sz="1800"/>
            </a:pPr>
            <a:r>
              <a:t>Bearing temperature: warm to touch, not hot</a:t>
            </a:r>
          </a:p>
          <a:p>
            <a:pPr lvl="1">
              <a:defRPr sz="1800"/>
            </a:pPr>
            <a:r>
              <a:t>Report anything abnormal immediately!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Major Leak/Spray:</a:t>
            </a:r>
          </a:p>
          <a:p>
            <a:pPr lvl="1">
              <a:defRPr sz="1600"/>
            </a:pPr>
            <a:r>
              <a:t>Press E-STOP, Evacuate area, Call 5555</a:t>
            </a:r>
          </a:p>
          <a:p>
            <a:pPr>
              <a:defRPr b="1" sz="1800"/>
            </a:pPr>
            <a:r>
              <a:t>Fire:</a:t>
            </a:r>
          </a:p>
          <a:p>
            <a:pPr lvl="1">
              <a:defRPr sz="1600"/>
            </a:pPr>
            <a:r>
              <a:t>Activate alarm, Evacuate, Call 5555, Use extinguisher if trained and safe</a:t>
            </a:r>
          </a:p>
          <a:p>
            <a:pPr>
              <a:defRPr b="1" sz="1800"/>
            </a:pPr>
            <a:r>
              <a:t>Injury:</a:t>
            </a:r>
          </a:p>
          <a:p>
            <a:pPr lvl="1">
              <a:defRPr sz="1600"/>
            </a:pPr>
            <a:r>
              <a:t>Call 5555 immediately, Do not move injured person unless immediate danger</a:t>
            </a:r>
          </a:p>
          <a:p>
            <a:pPr>
              <a:defRPr b="1" sz="1800"/>
            </a:pPr>
            <a:r>
              <a:t>Equipment Failure:</a:t>
            </a:r>
          </a:p>
          <a:p>
            <a:pPr lvl="1">
              <a:defRPr sz="1600"/>
            </a:pPr>
            <a:r>
              <a:t>Press E-STOP, Notify supervisor, Do NOT attempt to restart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Contact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Emergency Services: 5555</a:t>
            </a:r>
          </a:p>
          <a:p>
            <a:pPr>
              <a:defRPr sz="2200"/>
            </a:pPr>
            <a:r>
              <a:t>Maintenance Supervisor: 5556</a:t>
            </a:r>
          </a:p>
          <a:p>
            <a:pPr>
              <a:defRPr sz="2200"/>
            </a:pPr>
            <a:r>
              <a:t>Safety Officer: 5557</a:t>
            </a:r>
          </a:p>
          <a:p>
            <a:pPr>
              <a:defRPr sz="2200"/>
            </a:pPr>
            <a:r>
              <a:t>Plant Manager: 5558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Posted at all stations and on your badge!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Remember: Safety First!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>
              <a:defRPr sz="2000"/>
            </a:pPr>
            <a:r>
              <a:t>Never bypass safety devices</a:t>
            </a:r>
          </a:p>
          <a:p>
            <a:pPr lvl="1">
              <a:defRPr sz="2000"/>
            </a:pPr>
            <a:r>
              <a:t>Always use LOTO before maintenance</a:t>
            </a:r>
          </a:p>
          <a:p>
            <a:pPr lvl="1">
              <a:defRPr sz="2000"/>
            </a:pPr>
            <a:r>
              <a:t>Wear appropriate PPE at all times</a:t>
            </a:r>
          </a:p>
          <a:p>
            <a:pPr lvl="1">
              <a:defRPr sz="2000"/>
            </a:pPr>
            <a:r>
              <a:t>Report all hazards, near-misses, and incidents</a:t>
            </a:r>
          </a:p>
          <a:p>
            <a:pPr lvl="1">
              <a:defRPr sz="2000"/>
            </a:pPr>
            <a:r>
              <a:t>When in doubt, STOP and ask!</a:t>
            </a:r>
          </a:p>
          <a:p>
            <a:pPr lvl="1">
              <a:defRPr sz="2000"/>
            </a:pPr>
          </a:p>
          <a:p>
            <a:pPr lvl="1">
              <a:defRPr sz="2000"/>
            </a:pPr>
            <a:r>
              <a:t>Questions? Contact Safety Officer at ext. 5557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